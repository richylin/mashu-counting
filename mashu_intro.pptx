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3E2F"/>
    <a:srgbClr val="6C5C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6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7035" cy="5143500"/>
          </a:xfrm>
          <a:prstGeom prst="rect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474970" y="0"/>
            <a:ext cx="366903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45820" y="-936625"/>
            <a:ext cx="2286000" cy="2286000"/>
          </a:xfrm>
          <a:prstGeom prst="ellipse">
            <a:avLst/>
          </a:prstGeom>
          <a:solidFill>
            <a:srgbClr val="7AAB8A">
              <a:alpha val="30000"/>
            </a:srgbClr>
          </a:solidFill>
          <a:ln w="12700">
            <a:solidFill>
              <a:srgbClr val="7AAB8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" y="3604260"/>
            <a:ext cx="1645920" cy="1645920"/>
          </a:xfrm>
          <a:prstGeom prst="ellipse">
            <a:avLst/>
          </a:prstGeom>
          <a:solidFill>
            <a:srgbClr val="F0C84A">
              <a:alpha val="25000"/>
            </a:srgbClr>
          </a:solidFill>
          <a:ln w="12700">
            <a:solidFill>
              <a:srgbClr val="F0C84A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4905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麻薯计分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309495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8DD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贵州捉鸡麻将专属计分神器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995295"/>
            <a:ext cx="914400" cy="347472"/>
          </a:xfrm>
          <a:prstGeom prst="roundRect">
            <a:avLst>
              <a:gd name="adj" fmla="val 26316"/>
            </a:avLst>
          </a:prstGeom>
          <a:solidFill>
            <a:srgbClr val="7AAB8A">
              <a:alpha val="70000"/>
            </a:srgbClr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95295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免下载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81328" y="2995295"/>
            <a:ext cx="914400" cy="347472"/>
          </a:xfrm>
          <a:prstGeom prst="roundRect">
            <a:avLst>
              <a:gd name="adj" fmla="val 26316"/>
            </a:avLst>
          </a:prstGeom>
          <a:solidFill>
            <a:srgbClr val="7AAB8A">
              <a:alpha val="70000"/>
            </a:srgbClr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81328" y="2995295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实时同步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05456" y="2995295"/>
            <a:ext cx="914400" cy="347472"/>
          </a:xfrm>
          <a:prstGeom prst="roundRect">
            <a:avLst>
              <a:gd name="adj" fmla="val 26316"/>
            </a:avLst>
          </a:prstGeom>
          <a:solidFill>
            <a:srgbClr val="7AAB8A">
              <a:alpha val="70000"/>
            </a:srgbClr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2995295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最多6人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9584" y="2995295"/>
            <a:ext cx="914400" cy="347472"/>
          </a:xfrm>
          <a:prstGeom prst="roundRect">
            <a:avLst>
              <a:gd name="adj" fmla="val 26316"/>
            </a:avLst>
          </a:prstGeom>
          <a:solidFill>
            <a:srgbClr val="7AAB8A">
              <a:alpha val="70000"/>
            </a:srgbClr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9584" y="2995295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自动记录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909695"/>
            <a:ext cx="4697095" cy="732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0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mashu-counting.vercel.app</a:t>
            </a:r>
            <a:endParaRPr lang="en-US" sz="2400" i="1" dirty="0">
              <a:solidFill>
                <a:srgbClr val="F0C84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rcRect t="1968"/>
          <a:stretch>
            <a:fillRect/>
          </a:stretch>
        </p:blipFill>
        <p:spPr>
          <a:xfrm>
            <a:off x="6144260" y="189865"/>
            <a:ext cx="2388235" cy="4777105"/>
          </a:xfrm>
          <a:prstGeom prst="rect">
            <a:avLst/>
          </a:prstGeom>
          <a:effectLst>
            <a:outerShdw blurRad="101600" dist="38100" dir="8100000" algn="bl" rotWithShape="0">
              <a:srgbClr val="4A3728">
                <a:alpha val="12000"/>
              </a:srgbClr>
            </a:outerShdw>
          </a:effectLst>
        </p:spPr>
      </p:pic>
      <p:sp>
        <p:nvSpPr>
          <p:cNvPr id="18" name="Shape 15"/>
          <p:cNvSpPr/>
          <p:nvPr/>
        </p:nvSpPr>
        <p:spPr>
          <a:xfrm>
            <a:off x="8694420" y="4605020"/>
            <a:ext cx="731520" cy="731520"/>
          </a:xfrm>
          <a:prstGeom prst="ellipse">
            <a:avLst/>
          </a:prstGeom>
          <a:solidFill>
            <a:srgbClr val="E8A0A8">
              <a:alpha val="40000"/>
            </a:srgbClr>
          </a:solidFill>
          <a:ln w="12700">
            <a:solidFill>
              <a:srgbClr val="E8A0A8">
                <a:alpha val="40000"/>
              </a:srgbClr>
            </a:solidFill>
            <a:prstDash val="solid"/>
          </a:ln>
        </p:spPr>
      </p:sp>
      <p:pic>
        <p:nvPicPr>
          <p:cNvPr id="20" name="图片 19" descr="ip-st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420" y="1422400"/>
            <a:ext cx="1082040" cy="1572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AAB8A"/>
          </a:solidFill>
          <a:ln w="12700">
            <a:solidFill>
              <a:srgbClr val="7AA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2270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7AAB8A"/>
          </a:solidFill>
          <a:ln w="12700">
            <a:solidFill>
              <a:srgbClr val="7AA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227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痛点场景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打麻将，最头疼的不是输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8C75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是输了还不知道输了多少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98374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D0"/>
            </a:solidFill>
            <a:prstDash val="solid"/>
          </a:ln>
          <a:effectLst>
            <a:outerShdw blurRad="101600" dist="38100" dir="8100000" algn="bl" rotWithShape="0">
              <a:srgbClr val="4A372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31267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😤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71526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口头记分记不住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1267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75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有人说5分有人说8分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C75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最后吵起来不欢而散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251452"/>
            <a:ext cx="2651760" cy="109728"/>
          </a:xfrm>
          <a:prstGeom prst="rect">
            <a:avLst/>
          </a:prstGeom>
          <a:solidFill>
            <a:srgbClr val="7AAB8A"/>
          </a:solidFill>
          <a:ln w="12700">
            <a:solidFill>
              <a:srgbClr val="7AAB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98374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D0"/>
            </a:solidFill>
            <a:prstDash val="solid"/>
          </a:ln>
          <a:effectLst>
            <a:outerShdw blurRad="101600" dist="38100" dir="8100000" algn="bl" rotWithShape="0">
              <a:srgbClr val="4A3728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31267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🔢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840" y="271526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算分容易出错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31267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75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脑算、手算都不准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C75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局数一多就乱套了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4251452"/>
            <a:ext cx="2651760" cy="109728"/>
          </a:xfrm>
          <a:prstGeom prst="rect">
            <a:avLst/>
          </a:prstGeom>
          <a:solidFill>
            <a:srgbClr val="F0C84A"/>
          </a:solidFill>
          <a:ln w="12700">
            <a:solidFill>
              <a:srgbClr val="F0C8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98374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D0"/>
            </a:solidFill>
            <a:prstDash val="solid"/>
          </a:ln>
          <a:effectLst>
            <a:outerShdw blurRad="101600" dist="38100" dir="8100000" algn="bl" rotWithShape="0">
              <a:srgbClr val="4A3728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231267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126480" y="271526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现有工具太复杂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0" y="31267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75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要注册、要下载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C75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打个麻将费这劲？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4251452"/>
            <a:ext cx="2651760" cy="109728"/>
          </a:xfrm>
          <a:prstGeom prst="rect">
            <a:avLst/>
          </a:prstGeom>
          <a:solidFill>
            <a:srgbClr val="E8A0A8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578985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D6B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麻薯计分，就是专门解决这件事的。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77510" cy="5143500"/>
          </a:xfrm>
          <a:prstGeom prst="rect">
            <a:avLst/>
          </a:prstGeom>
          <a:solidFill>
            <a:srgbClr val="EBF4EF"/>
          </a:solidFill>
          <a:ln w="12700">
            <a:solidFill>
              <a:srgbClr val="EBF4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1485" y="394970"/>
            <a:ext cx="1280160" cy="329184"/>
          </a:xfrm>
          <a:prstGeom prst="roundRect">
            <a:avLst>
              <a:gd name="adj" fmla="val 27778"/>
            </a:avLst>
          </a:prstGeom>
          <a:solidFill>
            <a:srgbClr val="7AAB8A"/>
          </a:solidFill>
          <a:ln w="12700">
            <a:solidFill>
              <a:srgbClr val="7AA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1485" y="39497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快速开始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9895" y="865505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D6B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30秒开局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29895" y="158623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C75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不用下载  不用注册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1485" y="2287778"/>
            <a:ext cx="347472" cy="347472"/>
          </a:xfrm>
          <a:prstGeom prst="ellipse">
            <a:avLst/>
          </a:prstGeom>
          <a:solidFill>
            <a:srgbClr val="7AAB8A"/>
          </a:solidFill>
          <a:ln w="12700">
            <a:solidFill>
              <a:srgbClr val="7AA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1485" y="228777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26973" y="226949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手机浏览器打开链接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1485" y="2854706"/>
            <a:ext cx="347472" cy="347472"/>
          </a:xfrm>
          <a:prstGeom prst="ellipse">
            <a:avLst/>
          </a:prstGeom>
          <a:solidFill>
            <a:srgbClr val="7AAB8A"/>
          </a:solidFill>
          <a:ln w="12700">
            <a:solidFill>
              <a:srgbClr val="7AA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485" y="285470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26973" y="2836418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点「创建房间」输入4个数字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1485" y="3421634"/>
            <a:ext cx="347472" cy="347472"/>
          </a:xfrm>
          <a:prstGeom prst="ellipse">
            <a:avLst/>
          </a:prstGeom>
          <a:solidFill>
            <a:srgbClr val="7AAB8A"/>
          </a:solidFill>
          <a:ln w="12700">
            <a:solidFill>
              <a:srgbClr val="7AA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485" y="342163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6973" y="3403346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把号码发给牌友，让他们加入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1485" y="3988562"/>
            <a:ext cx="347472" cy="347472"/>
          </a:xfrm>
          <a:prstGeom prst="ellipse">
            <a:avLst/>
          </a:prstGeom>
          <a:solidFill>
            <a:srgbClr val="7AAB8A"/>
          </a:solidFill>
          <a:ln w="12700">
            <a:solidFill>
              <a:srgbClr val="7AA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485" y="398856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6973" y="3970274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各自选头像、起名字，进桌！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1485" y="4509770"/>
            <a:ext cx="4389120" cy="384048"/>
          </a:xfrm>
          <a:prstGeom prst="rect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485" y="4509770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mashu-counting.vercel.app</a:t>
            </a:r>
            <a:endParaRPr lang="en-US" sz="14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6305" y="160020"/>
            <a:ext cx="2386800" cy="4777200"/>
          </a:xfrm>
          <a:prstGeom prst="rect">
            <a:avLst/>
          </a:prstGeom>
          <a:effectLst>
            <a:outerShdw blurRad="101600" dist="38100" dir="8100000" algn="bl" rotWithShape="0">
              <a:srgbClr val="4A3728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C84A"/>
          </a:solidFill>
          <a:ln w="12700">
            <a:solidFill>
              <a:srgbClr val="F0C8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4330" y="414655"/>
            <a:ext cx="1463040" cy="329184"/>
          </a:xfrm>
          <a:prstGeom prst="roundRect">
            <a:avLst>
              <a:gd name="adj" fmla="val 27778"/>
            </a:avLst>
          </a:prstGeom>
          <a:solidFill>
            <a:srgbClr val="F0C84A"/>
          </a:solidFill>
          <a:ln w="12700">
            <a:solidFill>
              <a:srgbClr val="F0C8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4330" y="414655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主界面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54330" y="917575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你的分数，只有你看得见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54330" y="183769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7250" y="1777111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麻将桌俯视视角，沉浸感满满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4330" y="243205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57250" y="2371471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选择头像+起名字，快速建立身份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4330" y="302641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7250" y="2965831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自己分数只有自己可见，不怕偷看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4330" y="362077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🪙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7250" y="3560191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公池分数实时展示，所有人同步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4330" y="421513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7250" y="4154551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最多6人，4人上桌+2人备战席</a:t>
            </a:r>
            <a:endParaRPr lang="en-US" sz="15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2050" y="281940"/>
            <a:ext cx="1987550" cy="4047490"/>
          </a:xfrm>
          <a:prstGeom prst="rect">
            <a:avLst/>
          </a:prstGeom>
          <a:effectLst>
            <a:outerShdw blurRad="101600" dist="38100" dir="8100000" algn="bl" rotWithShape="0">
              <a:srgbClr val="4A3728">
                <a:alpha val="12000"/>
              </a:srgbClr>
            </a:outerShdw>
          </a:effectLst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135" y="281940"/>
            <a:ext cx="1987550" cy="4047490"/>
          </a:xfrm>
          <a:prstGeom prst="rect">
            <a:avLst/>
          </a:prstGeom>
          <a:effectLst>
            <a:outerShdw blurRad="101600" dist="38100" dir="8100000" algn="bl" rotWithShape="0">
              <a:srgbClr val="4A3728">
                <a:alpha val="12000"/>
              </a:srgbClr>
            </a:outerShdw>
          </a:effectLst>
        </p:spPr>
      </p:pic>
      <p:sp>
        <p:nvSpPr>
          <p:cNvPr id="18" name="Text 14"/>
          <p:cNvSpPr/>
          <p:nvPr/>
        </p:nvSpPr>
        <p:spPr>
          <a:xfrm>
            <a:off x="5161915" y="439801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身份设置页  /  麻将桌主界面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28590" cy="514350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7AAB8A">
              <a:alpha val="20000"/>
            </a:srgbClr>
          </a:solidFill>
          <a:ln w="12700">
            <a:solidFill>
              <a:srgbClr val="7AAB8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3840480"/>
            <a:ext cx="1828800" cy="1828800"/>
          </a:xfrm>
          <a:prstGeom prst="ellipse">
            <a:avLst/>
          </a:prstGeom>
          <a:solidFill>
            <a:srgbClr val="E8A0A8">
              <a:alpha val="20000"/>
            </a:srgbClr>
          </a:solidFill>
          <a:ln w="12700">
            <a:solidFill>
              <a:srgbClr val="E8A0A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1280160" cy="329184"/>
          </a:xfrm>
          <a:prstGeom prst="roundRect">
            <a:avLst>
              <a:gd name="adj" fmla="val 27778"/>
            </a:avLst>
          </a:prstGeom>
          <a:solidFill>
            <a:srgbClr val="E8A0A8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转账付分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输了就给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点一下搞定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02920" y="2569464"/>
            <a:ext cx="182880" cy="182880"/>
          </a:xfrm>
          <a:prstGeom prst="ellipse">
            <a:avLst/>
          </a:prstGeom>
          <a:solidFill>
            <a:srgbClr val="E8A0A8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C4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点对方头像 → 输入分数 → 确认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072384"/>
            <a:ext cx="182880" cy="182880"/>
          </a:xfrm>
          <a:prstGeom prst="ellipse">
            <a:avLst/>
          </a:prstGeom>
          <a:solidFill>
            <a:srgbClr val="E8A0A8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1752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C4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付款方扣分，收款方自动加分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575304"/>
            <a:ext cx="182880" cy="182880"/>
          </a:xfrm>
          <a:prstGeom prst="ellipse">
            <a:avLst/>
          </a:prstGeom>
          <a:solidFill>
            <a:srgbClr val="E8A0A8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2044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C4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实时同步，两端同时到账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078224"/>
            <a:ext cx="182880" cy="182880"/>
          </a:xfrm>
          <a:prstGeom prst="ellipse">
            <a:avLst/>
          </a:prstGeom>
          <a:solidFill>
            <a:srgbClr val="E8A0A8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2336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C4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仅双方可见，其他人看不到</a:t>
            </a:r>
            <a:endParaRPr lang="en-US" sz="14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0110" y="107950"/>
            <a:ext cx="2345775" cy="4777200"/>
          </a:xfrm>
          <a:prstGeom prst="rect">
            <a:avLst/>
          </a:prstGeom>
          <a:effectLst>
            <a:outerShdw blurRad="101600" dist="38100" dir="8100000" algn="bl" rotWithShape="0">
              <a:srgbClr val="4A3728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1"/>
          <a:srcRect t="1954"/>
          <a:stretch>
            <a:fillRect/>
          </a:stretch>
        </p:blipFill>
        <p:spPr>
          <a:xfrm>
            <a:off x="6731000" y="254000"/>
            <a:ext cx="2345076" cy="4680000"/>
          </a:xfrm>
          <a:prstGeom prst="rect">
            <a:avLst/>
          </a:prstGeom>
          <a:effectLst>
            <a:outerShdw blurRad="101600" dist="38100" dir="8100000" algn="bl" rotWithShape="0">
              <a:srgbClr val="4A3728">
                <a:alpha val="12000"/>
              </a:srgbClr>
            </a:outerShdw>
          </a:effectLst>
        </p:spPr>
      </p:pic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rcRect t="1954"/>
          <a:stretch>
            <a:fillRect/>
          </a:stretch>
        </p:blipFill>
        <p:spPr>
          <a:xfrm>
            <a:off x="2225040" y="255905"/>
            <a:ext cx="2345076" cy="4680000"/>
          </a:xfrm>
          <a:prstGeom prst="rect">
            <a:avLst/>
          </a:prstGeom>
          <a:effectLst>
            <a:outerShdw blurRad="101600" dist="38100" dir="8100000" algn="bl" rotWithShape="0">
              <a:srgbClr val="4A3728">
                <a:alpha val="12000"/>
              </a:srgbClr>
            </a:outerShdw>
          </a:effectLst>
        </p:spPr>
      </p:pic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AAB8A"/>
          </a:solidFill>
          <a:ln w="12700">
            <a:solidFill>
              <a:srgbClr val="7AA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645920" cy="329184"/>
          </a:xfrm>
          <a:prstGeom prst="roundRect">
            <a:avLst>
              <a:gd name="adj" fmla="val 27778"/>
            </a:avLst>
          </a:prstGeom>
          <a:solidFill>
            <a:srgbClr val="7AAB8A"/>
          </a:solidFill>
          <a:ln w="12700">
            <a:solidFill>
              <a:srgbClr val="7AA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历史记录 &amp; 撤回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4114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记错了？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一键撤回</a:t>
            </a:r>
            <a:endParaRPr lang="en-US" sz="2400" b="1" dirty="0">
              <a:solidFill>
                <a:srgbClr val="4A3728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760" y="1950085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14985" y="1934210"/>
            <a:ext cx="147066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所有进出都有记录，一清二楚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760" y="2480437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↩️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4190" y="2448560"/>
            <a:ext cx="172021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点撤回，分数自动还原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760" y="3010789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18795" y="2985135"/>
            <a:ext cx="147002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仅可见记录才显示，保护隐私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0" y="182880"/>
            <a:ext cx="0" cy="4754880"/>
          </a:xfrm>
          <a:prstGeom prst="line">
            <a:avLst/>
          </a:prstGeom>
          <a:noFill/>
          <a:ln w="12700">
            <a:solidFill>
              <a:srgbClr val="C8DD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46320" y="256032"/>
            <a:ext cx="1280160" cy="329184"/>
          </a:xfrm>
          <a:prstGeom prst="roundRect">
            <a:avLst>
              <a:gd name="adj" fmla="val 27778"/>
            </a:avLst>
          </a:prstGeom>
          <a:solidFill>
            <a:srgbClr val="F0C84A"/>
          </a:solidFill>
          <a:ln w="12700">
            <a:solidFill>
              <a:srgbClr val="F0C8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256032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公池系统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46320" y="749808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捉鸡麻将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公池原生支持</a:t>
            </a:r>
            <a:endParaRPr lang="en-US" sz="2400" b="1" dirty="0">
              <a:solidFill>
                <a:srgbClr val="4A3728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692015" y="1938020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🪙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076190" y="1934210"/>
            <a:ext cx="164592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自摸交公池（-1分），一键完成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692015" y="2468372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💎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076190" y="2464435"/>
            <a:ext cx="172085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自摸收公池，实时同步所有人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692015" y="2998724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👁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076190" y="2995295"/>
            <a:ext cx="165481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公池分数所有人可见，公开透明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6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7AAB8A">
              <a:alpha val="20000"/>
            </a:srgbClr>
          </a:solidFill>
          <a:ln w="12700">
            <a:solidFill>
              <a:srgbClr val="7AAB8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F0C84A">
              <a:alpha val="15000"/>
            </a:srgbClr>
          </a:solidFill>
          <a:ln w="12700">
            <a:solidFill>
              <a:srgbClr val="F0C84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最多6人一起玩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3200400" cy="256032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20240"/>
            <a:ext cx="3200400" cy="457200"/>
          </a:xfrm>
          <a:prstGeom prst="rect">
            <a:avLst/>
          </a:prstGeom>
          <a:solidFill>
            <a:srgbClr val="7AAB8A"/>
          </a:solidFill>
          <a:ln w="12700">
            <a:solidFill>
              <a:srgbClr val="7AA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🀄  上桌席  （最多4人）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5146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3E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转账付分 ✅</a:t>
            </a:r>
            <a:endParaRPr lang="en-US" sz="1400" dirty="0">
              <a:solidFill>
                <a:srgbClr val="503E2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95351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3E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公池交/收 ✅</a:t>
            </a:r>
            <a:endParaRPr lang="en-US" sz="1400" dirty="0">
              <a:solidFill>
                <a:srgbClr val="503E2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3392424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3E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查看记录 ✅</a:t>
            </a:r>
            <a:endParaRPr lang="en-US" sz="1400" dirty="0">
              <a:solidFill>
                <a:srgbClr val="503E2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383133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3E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撤回操作 ✅</a:t>
            </a:r>
            <a:endParaRPr lang="en-US" sz="1400" dirty="0">
              <a:solidFill>
                <a:srgbClr val="503E2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29200" y="1920240"/>
            <a:ext cx="3200400" cy="256032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C9A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1920240"/>
            <a:ext cx="3200400" cy="457200"/>
          </a:xfrm>
          <a:prstGeom prst="rect">
            <a:avLst/>
          </a:prstGeom>
          <a:solidFill>
            <a:srgbClr val="F0C84A"/>
          </a:solidFill>
          <a:ln w="12700">
            <a:solidFill>
              <a:srgbClr val="F0C8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9202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⚔️  备战席  （最多2人）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25146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3E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转账付分 ✅</a:t>
            </a:r>
            <a:endParaRPr lang="en-US" sz="1400" dirty="0">
              <a:solidFill>
                <a:srgbClr val="503E2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12080" y="295351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3E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公池交 </a:t>
            </a:r>
            <a:r>
              <a:rPr lang="en-US" sz="1400" dirty="0">
                <a:solidFill>
                  <a:srgbClr val="503E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❌</a:t>
            </a:r>
            <a:r>
              <a:rPr lang="en-US" sz="1400" dirty="0">
                <a:solidFill>
                  <a:srgbClr val="503E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400" dirty="0">
                <a:solidFill>
                  <a:srgbClr val="503E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（没上桌）</a:t>
            </a:r>
            <a:endParaRPr lang="en-US" sz="1400" dirty="0">
              <a:solidFill>
                <a:srgbClr val="503E2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12080" y="3392424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3E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公池收 ❌（没上桌）</a:t>
            </a:r>
            <a:endParaRPr lang="en-US" sz="1400" dirty="0">
              <a:solidFill>
                <a:srgbClr val="503E2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12080" y="383133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3E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查看记录 ✅</a:t>
            </a:r>
            <a:endParaRPr lang="en-US" sz="1400" dirty="0">
              <a:solidFill>
                <a:srgbClr val="503E2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DD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旁观的朋友也能参与进来，不用干坐着。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A8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用完就走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下次还认识你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D0"/>
            </a:solidFill>
            <a:prstDash val="solid"/>
          </a:ln>
          <a:effectLst>
            <a:outerShdw blurRad="101600" dist="38100" dir="8100000" algn="bl" rotWithShape="0">
              <a:srgbClr val="4A372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515235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🔄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55315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自动恢复身份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585083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75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关掉页面再打开，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C75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自动恢复你的身份和分数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645152"/>
            <a:ext cx="2651760" cy="109728"/>
          </a:xfrm>
          <a:prstGeom prst="rect">
            <a:avLst/>
          </a:prstGeom>
          <a:solidFill>
            <a:srgbClr val="7AAB8A"/>
          </a:solidFill>
          <a:ln w="12700">
            <a:solidFill>
              <a:srgbClr val="7AAB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219456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D0"/>
            </a:solidFill>
            <a:prstDash val="solid"/>
          </a:ln>
          <a:effectLst>
            <a:outerShdw blurRad="101600" dist="38100" dir="8100000" algn="bl" rotWithShape="0">
              <a:srgbClr val="4A372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515235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🗑️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83280" y="3155315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自动清理房间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3585083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75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打完一局，所有人退出后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C75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5分钟自动清理，不留数据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4645152"/>
            <a:ext cx="2651760" cy="109728"/>
          </a:xfrm>
          <a:prstGeom prst="rect">
            <a:avLst/>
          </a:prstGeom>
          <a:solidFill>
            <a:srgbClr val="F0C84A"/>
          </a:solidFill>
          <a:ln w="12700">
            <a:solidFill>
              <a:srgbClr val="F0C8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19456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D0"/>
            </a:solidFill>
            <a:prstDash val="solid"/>
          </a:ln>
          <a:effectLst>
            <a:outerShdw blurRad="101600" dist="38100" dir="8100000" algn="bl" rotWithShape="0">
              <a:srgbClr val="4A3728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515235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🔢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17920" y="3155315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37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独立房间隔离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3585083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75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4位数字创建房间，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C75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朋友圈多桌同时开战互不干扰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4645152"/>
            <a:ext cx="2651760" cy="109728"/>
          </a:xfrm>
          <a:prstGeom prst="rect">
            <a:avLst/>
          </a:prstGeom>
          <a:solidFill>
            <a:srgbClr val="E8A0A8"/>
          </a:solidFill>
          <a:ln w="12700">
            <a:solidFill>
              <a:srgbClr val="E8A0A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6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AAB8A">
              <a:alpha val="25000"/>
            </a:srgbClr>
          </a:solidFill>
          <a:ln w="12700">
            <a:solidFill>
              <a:srgbClr val="7AAB8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F0C84A">
              <a:alpha val="20000"/>
            </a:srgbClr>
          </a:solidFill>
          <a:ln w="12700">
            <a:solidFill>
              <a:srgbClr val="F0C84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457200"/>
            <a:ext cx="1371600" cy="1371600"/>
          </a:xfrm>
          <a:prstGeom prst="ellipse">
            <a:avLst/>
          </a:prstGeom>
          <a:solidFill>
            <a:srgbClr val="E8A0A8">
              <a:alpha val="25000"/>
            </a:srgbClr>
          </a:solidFill>
          <a:ln w="12700">
            <a:solidFill>
              <a:srgbClr val="E8A0A8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现在就开始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1375410" y="2468880"/>
            <a:ext cx="6401435" cy="731520"/>
          </a:xfrm>
          <a:prstGeom prst="rect">
            <a:avLst/>
          </a:prstGeom>
          <a:solidFill>
            <a:srgbClr val="F0C84A"/>
          </a:solidFill>
          <a:ln w="12700">
            <a:solidFill>
              <a:srgbClr val="F0C84A"/>
            </a:solidFill>
            <a:prstDash val="solid"/>
          </a:ln>
          <a:effectLst>
            <a:outerShdw blurRad="101600" dist="38100" dir="8100000" algn="bl" rotWithShape="0">
              <a:srgbClr val="4A372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246888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3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mashu-counting.vercel.app</a:t>
            </a:r>
            <a:endParaRPr lang="en-US" sz="2400" b="1" dirty="0">
              <a:solidFill>
                <a:srgbClr val="4A3728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86000" y="3291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8DD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* 国内用户需使用代理访问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" y="3931920"/>
            <a:ext cx="1645920" cy="36576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" y="39319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免下载 App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20240" y="3931920"/>
            <a:ext cx="1645920" cy="36576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39319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免注册账号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3931920"/>
            <a:ext cx="1645920" cy="36576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39319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实时多人同步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3931920"/>
            <a:ext cx="1645920" cy="36576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39319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贵州捉鸡专属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0" y="3931920"/>
            <a:ext cx="1645920" cy="36576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39319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公池系统内置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DD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再也不怕遇到算不清楚分的麻薯人了 🀄</a:t>
            </a:r>
            <a:endParaRPr lang="en-US" sz="1400" dirty="0"/>
          </a:p>
        </p:txBody>
      </p:sp>
      <p:pic>
        <p:nvPicPr>
          <p:cNvPr id="21" name="图片 20" descr="ip-reclin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50340"/>
            <a:ext cx="1540510" cy="109728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1371600" y="173736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8DD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打开链接，4位数字，30秒进桌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888</Words>
  <Application>WPS 文字</Application>
  <PresentationFormat>On-screen Show (16:9)</PresentationFormat>
  <Paragraphs>208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Consolas</vt:lpstr>
      <vt:lpstr>Consolas</vt:lpstr>
      <vt:lpstr>Consolas</vt:lpstr>
      <vt:lpstr>Calibri</vt:lpstr>
      <vt:lpstr>Helvetica Neue</vt:lpstr>
      <vt:lpstr>苹方-简</vt:lpstr>
      <vt:lpstr>宋体</vt:lpstr>
      <vt:lpstr>Arial Unicode MS</vt:lpstr>
      <vt:lpstr>汉仪书宋二KW</vt:lpstr>
      <vt:lpstr>等线</vt:lpstr>
      <vt:lpstr>汉仪中等线KW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麻薯计分 产品介绍</dc:title>
  <dc:creator>PptxGenJS</dc:creator>
  <dc:subject>PptxGenJS Presentation</dc:subject>
  <cp:lastModifiedBy>陆之衡</cp:lastModifiedBy>
  <cp:revision>2</cp:revision>
  <dcterms:created xsi:type="dcterms:W3CDTF">2026-04-26T03:55:48Z</dcterms:created>
  <dcterms:modified xsi:type="dcterms:W3CDTF">2026-04-26T03:55:48Z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823263D94B4686BDC48CED69F6AD4AA0_42</vt:lpwstr>
  </property>
  <property fmtid="{D5CDD505-2E9C-101B-9397-08002B2CF9AE}" pid="3" name="KSOProductBuildVer">
    <vt:lpwstr>2052-12.1.23141.23141</vt:lpwstr>
  </property>
</Properties>
</file>